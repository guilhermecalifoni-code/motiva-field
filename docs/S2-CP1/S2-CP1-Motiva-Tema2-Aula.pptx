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01A2B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01A2B"/>
                </a:solidFill>
                <a:latin typeface="Calibri"/>
              </a:rPr>
              <a:t>Erro medido após calibração (Zheng et al., 2024)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 mínimo (cm)</c:v>
                </c:pt>
              </c:strCache>
            </c:strRef>
          </c:tx>
          <c:spPr>
            <a:solidFill>
              <a:srgbClr val="4B1F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01A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Trigo (dossel denso)</c:v>
                  </c:pt>
                  <c:pt idx="1">
                    <c:v>Milho (dossel esparso)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3.7</c:v>
                </c:pt>
                <c:pt idx="1">
                  <c:v>8.1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RMSE máximo (cm)</c:v>
                </c:pt>
              </c:strCache>
            </c:strRef>
          </c:tx>
          <c:spPr>
            <a:solidFill>
              <a:srgbClr val="D92D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01A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Trigo (dossel denso)</c:v>
                  </c:pt>
                  <c:pt idx="1">
                    <c:v>Milho (dossel esparso)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4.7</c:v>
                </c:pt>
                <c:pt idx="1">
                  <c:v>9.4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01A2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75E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DD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cm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75E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0:00-0:30 — Abrir dizendo o problema, nao o tema: 'nosso projeto promete dizer que ha 38 cm de mato, nao que ha mato. Esta aula e sobre como se mede esse numero e por que quase todo sensor erra.'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0:30-1:30 — Cada um diz o nome e a frente em que atuou. Manter curto: uma frase por pessoa. O enunciado exige que todos falem e informem a participacao no projeto.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1:30-3:00 — Este e o gancho da aula. Contar o caso real. Enfatizar: o sistema nao 'quebrou', ele respondeu um numero bonito e errado. Perguntar a turma: como voces detectariam isso? Ninguem detecta olhando o resultado — so comparando com uma segunda fonte.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3:00-4:00 — Ponto conceitual mais importante da aula. Escrever a formula no quadro se ajudar. A consequencia (1) e contraintuitiva e vale destacar: medir o solo a cada leitura parece mais seguro, mas degrada. Dai vem a recomendacao de calibrar uma vez.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4:00-5:15 — Fazer a conta no quadro para um caso: tan(7,5 graus)=0,132, logo 2 x 1 m x 0,132 = 26 cm. Perguntar a turma o que acontece com uma moita de 20 cm dentro de um circulo de 26 cm: ela vira media com o chao. Fonte dos angulos: datasheets ST, Benewake e HC-SR04.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5:15-6:45 — Aqui esta o conteudo tecnico mais forte. Fonte revisada por pares: Zheng et al. 2024, Frontiers in Plant Science, sensor industrial ToughSonic, JA CALIBRADO. Se ate um sensor industrial calibrado erra 8-9 cm em dossel esparso, um HC-SR04 de 20 reais nao vai fazer melhor. Conclusao: ultrassom nao serve para o nosso alvo.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6:45-7:45 — Esta e a ponte entre o nosso projeto e a proposta. Deixar claro que trocar de algoritmo NAO resolve; e limitacao de informacao, nao de processamento. Se perguntarem: sim, existe profundidade monocular (Depth Anything V2, Metric3D), mas custa modelo grande e GPU.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7:45-8:45 — Recomendacao objetiva e justificada, que e o que o criterio 'Aplicacao ao projeto' cobra. Amarrar com o slide anterior: o LiDAR entra porque resolve o problema de profundidade que documentamos, nao porque e a tecnologia mais nova.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8:45-9:30 — Explicar por que mediana e nao media (pergunta provavel do professor). Destacar a etapa 4: e a licao que veio dos nossos dois erros de campo, e ja esta implementada no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9:30-10:00 — Fechar com as decisoes, nao com resumo. A ultima linha e deliberada: admitir o que nao foi testado da credibilidade e antecipa a pergunta obvia do professor.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apoio para as perguntas. Nao apresentar linha a linha.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08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S2-CP01 · PROJETO MOTIVA · TEMA 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2880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Sensoriamento da vegetação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qualidade da medição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490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9C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medir altura de mato em centímetros é mais difícil — e mais decisivo — do que parece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572000"/>
            <a:ext cx="1280160" cy="45720"/>
          </a:xfrm>
          <a:prstGeom prst="rect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4892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C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Turma 2CCPO  ·  FIAP  ·  Sprint 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08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somos e o que cada um fez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658368"/>
          </a:xfrm>
          <a:prstGeom prst="roundRect">
            <a:avLst>
              <a:gd name="adj" fmla="val 12500"/>
            </a:avLst>
          </a:prstGeom>
          <a:solidFill>
            <a:srgbClr val="F6F4FA"/>
          </a:solidFill>
          <a:ln w="12700">
            <a:solidFill>
              <a:srgbClr val="E3DD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892808"/>
            <a:ext cx="402336" cy="402336"/>
          </a:xfrm>
          <a:prstGeom prst="ellipse">
            <a:avLst/>
          </a:prstGeom>
          <a:solidFill>
            <a:srgbClr val="2E0854"/>
          </a:solidFill>
          <a:ln w="12700">
            <a:solidFill>
              <a:srgbClr val="2E085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892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8470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Bento Donato Garcia   ·   RM 561621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12140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7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[participação no projeto]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505456"/>
            <a:ext cx="10881360" cy="658368"/>
          </a:xfrm>
          <a:prstGeom prst="roundRect">
            <a:avLst>
              <a:gd name="adj" fmla="val 12500"/>
            </a:avLst>
          </a:prstGeom>
          <a:solidFill>
            <a:srgbClr val="F6F4FA"/>
          </a:solidFill>
          <a:ln w="12700">
            <a:solidFill>
              <a:srgbClr val="E3DD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2660904"/>
            <a:ext cx="402336" cy="402336"/>
          </a:xfrm>
          <a:prstGeom prst="ellipse">
            <a:avLst/>
          </a:prstGeom>
          <a:solidFill>
            <a:srgbClr val="2E0854"/>
          </a:solidFill>
          <a:ln w="12700">
            <a:solidFill>
              <a:srgbClr val="2E085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26609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61518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Enzo Ribeiro Domingues Piazentin   ·   RM 564216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288950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7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[participação no projeto]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273552"/>
            <a:ext cx="10881360" cy="658368"/>
          </a:xfrm>
          <a:prstGeom prst="roundRect">
            <a:avLst>
              <a:gd name="adj" fmla="val 12500"/>
            </a:avLst>
          </a:prstGeom>
          <a:solidFill>
            <a:srgbClr val="F6F4FA"/>
          </a:solidFill>
          <a:ln w="12700">
            <a:solidFill>
              <a:srgbClr val="E3DD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3429000"/>
            <a:ext cx="402336" cy="402336"/>
          </a:xfrm>
          <a:prstGeom prst="ellipse">
            <a:avLst/>
          </a:prstGeom>
          <a:solidFill>
            <a:srgbClr val="2E0854"/>
          </a:solidFill>
          <a:ln w="12700">
            <a:solidFill>
              <a:srgbClr val="2E085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1248" y="3429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3832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 Domingues Califoni   ·   RM 565157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36576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7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[participação no projeto]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041648"/>
            <a:ext cx="10881360" cy="658368"/>
          </a:xfrm>
          <a:prstGeom prst="roundRect">
            <a:avLst>
              <a:gd name="adj" fmla="val 12500"/>
            </a:avLst>
          </a:prstGeom>
          <a:solidFill>
            <a:srgbClr val="F6F4FA"/>
          </a:solidFill>
          <a:ln w="12700">
            <a:solidFill>
              <a:srgbClr val="E3DD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" y="4197096"/>
            <a:ext cx="402336" cy="402336"/>
          </a:xfrm>
          <a:prstGeom prst="ellipse">
            <a:avLst/>
          </a:prstGeom>
          <a:solidFill>
            <a:srgbClr val="2E0854"/>
          </a:solidFill>
          <a:ln w="12700">
            <a:solidFill>
              <a:srgbClr val="2E085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1248" y="41970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15137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Antonio Lucas Santana Tavares   ·   RM 565516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442569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7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[participação no projeto]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4809744"/>
            <a:ext cx="10881360" cy="658368"/>
          </a:xfrm>
          <a:prstGeom prst="roundRect">
            <a:avLst>
              <a:gd name="adj" fmla="val 12500"/>
            </a:avLst>
          </a:prstGeom>
          <a:solidFill>
            <a:srgbClr val="F6F4FA"/>
          </a:solidFill>
          <a:ln w="12700">
            <a:solidFill>
              <a:srgbClr val="E3DD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248" y="4965192"/>
            <a:ext cx="402336" cy="402336"/>
          </a:xfrm>
          <a:prstGeom prst="ellipse">
            <a:avLst/>
          </a:prstGeom>
          <a:solidFill>
            <a:srgbClr val="2E0854"/>
          </a:solidFill>
          <a:ln w="12700">
            <a:solidFill>
              <a:srgbClr val="2E085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1248" y="4965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417320" y="49194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M.   ·   RM 563667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417320" y="51937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7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[participação no projeto]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0080" y="5577840"/>
            <a:ext cx="10881360" cy="658368"/>
          </a:xfrm>
          <a:prstGeom prst="roundRect">
            <a:avLst>
              <a:gd name="adj" fmla="val 12500"/>
            </a:avLst>
          </a:prstGeom>
          <a:solidFill>
            <a:srgbClr val="F6F4FA"/>
          </a:solidFill>
          <a:ln w="12700">
            <a:solidFill>
              <a:srgbClr val="E3DD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1248" y="5733288"/>
            <a:ext cx="402336" cy="402336"/>
          </a:xfrm>
          <a:prstGeom prst="ellipse">
            <a:avLst/>
          </a:prstGeom>
          <a:solidFill>
            <a:srgbClr val="2E0854"/>
          </a:solidFill>
          <a:ln w="12700">
            <a:solidFill>
              <a:srgbClr val="2E085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41248" y="5733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417320" y="56875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Gustavo Schimith   ·   RM 564800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1417320" y="596188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7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[participação no projeto]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ESTE TEMA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08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 começa com um número plausível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2286000"/>
          </a:xfrm>
          <a:prstGeom prst="roundRect">
            <a:avLst>
              <a:gd name="adj" fmla="val 3600"/>
            </a:avLst>
          </a:prstGeom>
          <a:solidFill>
            <a:srgbClr val="FEF3F2"/>
          </a:solidFill>
          <a:ln w="12700">
            <a:solidFill>
              <a:srgbClr val="FECD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1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MEDIÇÃO REAL DO GRUPO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21284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92D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38,5 cm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0175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1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reportados onde havia ~10 cm.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91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operador informou 50 cm de trena; a foto mostrava 13,5 cm.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5257800" cy="2286000"/>
          </a:xfrm>
          <a:prstGeom prst="roundRect">
            <a:avLst>
              <a:gd name="adj" fmla="val 3600"/>
            </a:avLst>
          </a:prstGeom>
          <a:solidFill>
            <a:srgbClr val="F6F4FA"/>
          </a:solidFill>
          <a:ln w="12700">
            <a:solidFill>
              <a:srgbClr val="E3DD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7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ISSO ENSINA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2402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38,5 cm é uma altura perfeitamente crível para mato de beira de estrada.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na foto, na máscara ou no JSON denunciava o erro.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de escala multiplica tudo por uma constante — e preserva a aparência de normalidade.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2976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2E08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 de ruído se vê. Erro de escala, não. É por isso que a escolha do sensor importa.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08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 sensor mede altura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7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medem distância. Altura é uma diferença: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2E0854"/>
          </a:solidFill>
          <a:ln w="12700">
            <a:solidFill>
              <a:srgbClr val="2E085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011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  =  d(solo)  −  d(dossel)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6F4FA"/>
          </a:solidFill>
          <a:ln w="12700">
            <a:solidFill>
              <a:srgbClr val="E3DD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429000"/>
            <a:ext cx="347472" cy="347472"/>
          </a:xfrm>
          <a:prstGeom prst="ellipse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3429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389888" y="341071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erro se compõe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89888" y="3767328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7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medidas com desvio σ dão σ√2 na altura — 41% pior.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7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o solo toda vez PIORA o resultado.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32004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6F4FA"/>
          </a:solidFill>
          <a:ln w="12700">
            <a:solidFill>
              <a:srgbClr val="E3DD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37960" y="3429000"/>
            <a:ext cx="347472" cy="347472"/>
          </a:xfrm>
          <a:prstGeom prst="ellipse">
            <a:avLst/>
          </a:prstGeom>
          <a:solidFill>
            <a:srgbClr val="4B1F80"/>
          </a:solidFill>
          <a:ln w="12700">
            <a:solidFill>
              <a:srgbClr val="4B1F8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37960" y="3429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013448" y="341071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“Topo do dossel” é ambíguo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013448" y="3767328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7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Vegetação é meio poroso, não superfície. O feixe reflete na folha,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7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atravessa o vão ou chega ao solo.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08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especificação que decide não é o alcance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7276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7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abertura do feixe: ela define a área que o sensor integra numa leitura.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200400" cy="658368"/>
          </a:xfrm>
          <a:prstGeom prst="roundRect">
            <a:avLst>
              <a:gd name="adj" fmla="val 12500"/>
            </a:avLst>
          </a:prstGeom>
          <a:solidFill>
            <a:srgbClr val="2E0854"/>
          </a:solidFill>
          <a:ln w="12700">
            <a:solidFill>
              <a:srgbClr val="2E085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96596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= 2 · d · tan(θ/2)</a:t>
            </a:r>
            <a:endParaRPr lang="en-US" sz="1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834640"/>
          <a:ext cx="10881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005840"/>
                <a:gridCol w="1280160"/>
                <a:gridCol w="585216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08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08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a 1 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08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Consequência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085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HC-SR04 (ultrassom)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15°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cm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 de uma área grande — não resolve moita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VL53L1X (ToF)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27°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cm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 ainda maior; mitigável por ROI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TF-Luna (LiDAR)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2,3°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cm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 o alvo — mas amostra um só ponto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40080" y="4892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2E08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Compromisso real: feixe largo perde o alvo na média; feixe estreito cai no vão entre folhas. A saída é amostrar N vezes e usar a MEDIANA.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08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Ultrassom aguenta a nossa faixa de decisão?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91640"/>
          <a:ext cx="63093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223760" y="1691640"/>
            <a:ext cx="4297680" cy="1508760"/>
          </a:xfrm>
          <a:prstGeom prst="roundRect">
            <a:avLst>
              <a:gd name="adj" fmla="val 5455"/>
            </a:avLst>
          </a:prstGeom>
          <a:solidFill>
            <a:srgbClr val="F6F4FA"/>
          </a:solidFill>
          <a:ln w="12700">
            <a:solidFill>
              <a:srgbClr val="E3DD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98080" y="18470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7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 REQUISITO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498080" y="210312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08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≤ 5 cm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7498080" y="26700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7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Bandas de risco têm 20 cm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7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(atenção 25 cm · crítico 45 cm)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223760" y="3383280"/>
            <a:ext cx="4297680" cy="1691640"/>
          </a:xfrm>
          <a:prstGeom prst="roundRect">
            <a:avLst>
              <a:gd name="adj" fmla="val 4865"/>
            </a:avLst>
          </a:prstGeom>
          <a:solidFill>
            <a:srgbClr val="FEF3F2"/>
          </a:solidFill>
          <a:ln w="12700">
            <a:solidFill>
              <a:srgbClr val="FECDC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98080" y="35661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1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Grama de 5–6 cm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498080" y="3858768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1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RMSE de 8–9 cm, o erro é MAIOR que a grandeza medida.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1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Ultrassom separa “tranquilo” de “crítico” em mato alto — não acompanha crescimento de grama baixa.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MOTIVA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08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segundo erro: 41,6 cm numa grama de 5–6 cm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3108960"/>
          </a:xfrm>
          <a:prstGeom prst="roundRect">
            <a:avLst>
              <a:gd name="adj" fmla="val 2647"/>
            </a:avLst>
          </a:prstGeom>
          <a:solidFill>
            <a:srgbClr val="F6F4FA"/>
          </a:solidFill>
          <a:ln w="12700">
            <a:solidFill>
              <a:srgbClr val="E3DD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745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aconteceu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24028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corrigir a escala, o erro persistiu.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máscara de vegetação capturava a faixa de grama inteira — do pé da câmera ao horizonte.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extensão vertical dessa região não é a altura de planta nenhuma.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9319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D92D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Grama distante aparece mais alta no quadro sem ser mais alta.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257800" cy="3108960"/>
          </a:xfrm>
          <a:prstGeom prst="roundRect">
            <a:avLst>
              <a:gd name="adj" fmla="val 2647"/>
            </a:avLst>
          </a:prstGeom>
          <a:solidFill>
            <a:srgbClr val="2E0854"/>
          </a:solidFill>
          <a:ln w="12700">
            <a:solidFill>
              <a:srgbClr val="2E085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18745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importa para o tema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2860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é problema de segmentação.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falta de PROFUNDIDADE.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306324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9C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imagem RGB não sabe a distância de cada pixel. Segmentador melhor segmentaria a faixa perfeitamente — e ela continuaria sendo uma coisa só.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9C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sensor de distância fornece exatamente o dado que falta.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 DO GRUPO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08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Proposta: LiDAR de ponto único + câmera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74720" cy="2011680"/>
          </a:xfrm>
          <a:prstGeom prst="roundRect">
            <a:avLst>
              <a:gd name="adj" fmla="val 4091"/>
            </a:avLst>
          </a:prstGeom>
          <a:solidFill>
            <a:srgbClr val="F6F4FA"/>
          </a:solidFill>
          <a:ln w="12700">
            <a:solidFill>
              <a:srgbClr val="E3DD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65960"/>
            <a:ext cx="384048" cy="38404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4688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 pleno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7889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7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klux (TFmini-S) e operação acima de 100 klux (TF-Luna). Única categoria que sobrevive a céu aberto.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474720" cy="2011680"/>
          </a:xfrm>
          <a:prstGeom prst="roundRect">
            <a:avLst>
              <a:gd name="adj" fmla="val 4091"/>
            </a:avLst>
          </a:prstGeom>
          <a:solidFill>
            <a:srgbClr val="F6F4FA"/>
          </a:solidFill>
          <a:ln w="12700">
            <a:solidFill>
              <a:srgbClr val="E3DD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965960"/>
            <a:ext cx="384048" cy="38404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772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4688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7889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7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 de 4 cm a 1 m: resolve a moita em vez de mediar a faixa.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737360"/>
            <a:ext cx="3474720" cy="2011680"/>
          </a:xfrm>
          <a:prstGeom prst="roundRect">
            <a:avLst>
              <a:gd name="adj" fmla="val 4091"/>
            </a:avLst>
          </a:prstGeom>
          <a:solidFill>
            <a:srgbClr val="F6F4FA"/>
          </a:solidFill>
          <a:ln w="12700">
            <a:solidFill>
              <a:srgbClr val="E3DD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1965960"/>
            <a:ext cx="384048" cy="384048"/>
          </a:xfrm>
          <a:prstGeom prst="ellipse">
            <a:avLst/>
          </a:prstGeom>
          <a:solidFill>
            <a:srgbClr val="4B1F80"/>
          </a:solidFill>
          <a:ln w="12700">
            <a:solidFill>
              <a:srgbClr val="4B1F8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4688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7889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7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 a distância que falta à imagem — dispensa a trena no quadro.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977640"/>
            <a:ext cx="10881360" cy="1051560"/>
          </a:xfrm>
          <a:prstGeom prst="roundRect">
            <a:avLst>
              <a:gd name="adj" fmla="val 7826"/>
            </a:avLst>
          </a:prstGeom>
          <a:solidFill>
            <a:srgbClr val="FFF8E1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0120" y="4114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Calibrar a geometria UMA vez, não a cada leitura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440740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o solo toda vez compõe erro (σ√2). Com montagem rígida, d(solo) é constante — o projeto já faz isso em vision/calibracao.json, que guarda a escala e a geometria e avisa após 7 dias.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PROPOSTO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08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 leitura vira decisão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664208" cy="1920240"/>
          </a:xfrm>
          <a:prstGeom prst="roundRect">
            <a:avLst>
              <a:gd name="adj" fmla="val 4945"/>
            </a:avLst>
          </a:prstGeom>
          <a:solidFill>
            <a:srgbClr val="F6F4FA"/>
          </a:solidFill>
          <a:ln w="12700">
            <a:solidFill>
              <a:srgbClr val="E3DD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2148840"/>
            <a:ext cx="384048" cy="384048"/>
          </a:xfrm>
          <a:prstGeom prst="ellipse">
            <a:avLst/>
          </a:prstGeom>
          <a:solidFill>
            <a:srgbClr val="2E0854"/>
          </a:solidFill>
          <a:ln w="12700">
            <a:solidFill>
              <a:srgbClr val="2E085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8016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5176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44368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7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leituras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7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~100 Hz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478024" y="1965960"/>
            <a:ext cx="1664208" cy="1920240"/>
          </a:xfrm>
          <a:prstGeom prst="roundRect">
            <a:avLst>
              <a:gd name="adj" fmla="val 4945"/>
            </a:avLst>
          </a:prstGeom>
          <a:solidFill>
            <a:srgbClr val="F6F4FA"/>
          </a:solidFill>
          <a:ln w="12700">
            <a:solidFill>
              <a:srgbClr val="E3DD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18104" y="2148840"/>
            <a:ext cx="384048" cy="384048"/>
          </a:xfrm>
          <a:prstGeom prst="ellipse">
            <a:avLst/>
          </a:prstGeom>
          <a:solidFill>
            <a:srgbClr val="2E0854"/>
          </a:solidFill>
          <a:ln w="12700">
            <a:solidFill>
              <a:srgbClr val="2E085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18104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478024" y="265176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569464" y="2944368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7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 fora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7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janela válida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15968" y="1965960"/>
            <a:ext cx="1664208" cy="1920240"/>
          </a:xfrm>
          <a:prstGeom prst="roundRect">
            <a:avLst>
              <a:gd name="adj" fmla="val 4945"/>
            </a:avLst>
          </a:prstGeom>
          <a:solidFill>
            <a:srgbClr val="F6F4FA"/>
          </a:solidFill>
          <a:ln w="12700">
            <a:solidFill>
              <a:srgbClr val="E3DD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56048" y="2148840"/>
            <a:ext cx="384048" cy="384048"/>
          </a:xfrm>
          <a:prstGeom prst="ellipse">
            <a:avLst/>
          </a:prstGeom>
          <a:solidFill>
            <a:srgbClr val="2E0854"/>
          </a:solidFill>
          <a:ln w="12700">
            <a:solidFill>
              <a:srgbClr val="2E085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56048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315968" y="265176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407408" y="2944368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7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Rejeita o vão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7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folhas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53912" y="1965960"/>
            <a:ext cx="1664208" cy="1920240"/>
          </a:xfrm>
          <a:prstGeom prst="roundRect">
            <a:avLst>
              <a:gd name="adj" fmla="val 4945"/>
            </a:avLst>
          </a:prstGeom>
          <a:solidFill>
            <a:srgbClr val="FEF3F2"/>
          </a:solidFill>
          <a:ln w="12700">
            <a:solidFill>
              <a:srgbClr val="FECDC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93992" y="2148840"/>
            <a:ext cx="384048" cy="384048"/>
          </a:xfrm>
          <a:prstGeom prst="ellipse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93992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153912" y="265176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1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Dispersão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245352" y="2944368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1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Alta? RECUSA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1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sinaliza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991856" y="1965960"/>
            <a:ext cx="1664208" cy="1920240"/>
          </a:xfrm>
          <a:prstGeom prst="roundRect">
            <a:avLst>
              <a:gd name="adj" fmla="val 4945"/>
            </a:avLst>
          </a:prstGeom>
          <a:solidFill>
            <a:srgbClr val="F6F4FA"/>
          </a:solidFill>
          <a:ln w="12700">
            <a:solidFill>
              <a:srgbClr val="E3DD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31936" y="2148840"/>
            <a:ext cx="384048" cy="384048"/>
          </a:xfrm>
          <a:prstGeom prst="ellipse">
            <a:avLst/>
          </a:prstGeom>
          <a:solidFill>
            <a:srgbClr val="2E0854"/>
          </a:solidFill>
          <a:ln w="12700">
            <a:solidFill>
              <a:srgbClr val="2E085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631936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991856" y="265176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Converter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083296" y="2944368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7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d(solo)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7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mediana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829800" y="1965960"/>
            <a:ext cx="1664208" cy="1920240"/>
          </a:xfrm>
          <a:prstGeom prst="roundRect">
            <a:avLst>
              <a:gd name="adj" fmla="val 4945"/>
            </a:avLst>
          </a:prstGeom>
          <a:solidFill>
            <a:srgbClr val="F6F4FA"/>
          </a:solidFill>
          <a:ln w="12700">
            <a:solidFill>
              <a:srgbClr val="E3DD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469880" y="2148840"/>
            <a:ext cx="384048" cy="384048"/>
          </a:xfrm>
          <a:prstGeom prst="ellipse">
            <a:avLst/>
          </a:prstGeom>
          <a:solidFill>
            <a:srgbClr val="2E0854"/>
          </a:solidFill>
          <a:ln w="12700">
            <a:solidFill>
              <a:srgbClr val="2E085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46988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829800" y="265176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9921240" y="2944368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7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Cruzou limiar?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7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Transmite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41605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2E08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Mediana, não média: o vão entre folhas é outlier assimétrico — média o absorve, mediana o rejeita.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4572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7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4 é a regra que vale mais que todas: sem confiança, não se reporta número. Recusar medir é melhor que medir errado em silêncio.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08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FICA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Decisões recomendadas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74320" cy="27432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96596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Adotar LiDAR de ponto único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669280" y="1984248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C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Única categoria com tolerância a sol pleno e footprint compatível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615184"/>
            <a:ext cx="274320" cy="27432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256946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Descartar ultrassom como primário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669280" y="2587752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C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de 8–9 cm excede a resolução que a nossa faixa exige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218688"/>
            <a:ext cx="274320" cy="27432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317296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Fundir o sensor com a câmera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0" y="3191256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C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entrega a profundidade que a imagem RGB não tem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822192"/>
            <a:ext cx="274320" cy="27432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7280" y="3776472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Calibrar a geometria uma vez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0" y="3794760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C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compor erro e deixa a medição auditável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425696"/>
            <a:ext cx="274320" cy="27432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97280" y="437997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Recusar em vez de estimar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0" y="4398264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C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 por dois erros de campo documentados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212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Limitação assumida: não ensaiamos LiDAR nem ultrassom. Bancada contra medição manual é o próximo passo.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08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0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STMicroelectronics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3566160" y="16916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7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VL53L1X Datasheet DS13088 — alcance, FoV 27°, modos de distância e luz ambiente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1343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0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Handson Technology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231343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7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 Ultrasonic Sensor Module — User Guide (2–400 cm, ângulo &lt; 15°)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3522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0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Sharp Corporation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935224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7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GP2Y0A21YK0F Datasheet — 10–80 cm, saída não linear por triangulação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55701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0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Zheng, H. et al. (2024)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3557016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7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Calibrating ultrasonic sensor measurements of crop canopy heights.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7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Frontiers in Plant Science, v. 15. DOI: 10.3389/fpls.2024.1354359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17880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0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Benewake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417880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7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TFmini-S Product Specification — 70 klux, ± 6 cm em 0,1–6 m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80060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0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Benewake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480060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7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TF-Luna Datasheet SJ-GU-TF-Luna-A01 — ângulo 2,3°, 0,2–8 m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4864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7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Datasheets consultados nas páginas oficiais dos fabricantes. [5] é revisado por pares (PMC11188359). Tabelas de footprint e de adequação são cálculos do grupo a partir desses parâmetros.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S2-CP01 — Sensoriamento da vegetação e qualidade da medição</dc:title>
  <dc:subject>PptxGenJS Presentation</dc:subject>
  <dc:creator>Grupo Motiva-Field</dc:creator>
  <cp:lastModifiedBy>Grupo Motiva-Field</cp:lastModifiedBy>
  <cp:revision>1</cp:revision>
  <dcterms:created xsi:type="dcterms:W3CDTF">2026-09-01T23:10:33Z</dcterms:created>
  <dcterms:modified xsi:type="dcterms:W3CDTF">2026-09-01T23:10:33Z</dcterms:modified>
</cp:coreProperties>
</file>