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</p:sldIdLst>
  <p:notesMasterIdLst>
    <p:notesMasterId r:id="rId1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notesMaster" Target="notesMasters/notesMaster1.xml"/><Relationship Id="rId14" Type="http://schemas.openxmlformats.org/officeDocument/2006/relationships/presProps" Target="presProps.xml"/><Relationship Id="rId15" Type="http://schemas.openxmlformats.org/officeDocument/2006/relationships/viewProps" Target="viewProps.xml"/><Relationship Id="rId16" Type="http://schemas.openxmlformats.org/officeDocument/2006/relationships/theme" Target="theme/theme1.xml"/><Relationship Id="rId17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300" b="0" i="0" u="none" strike="noStrike">
                <a:solidFill>
                  <a:srgbClr val="201A2B"/>
                </a:solidFill>
                <a:latin typeface="Calibri"/>
              </a:defRPr>
            </a:pPr>
            <a:r>
              <a:rPr sz="1300" b="0" i="0" u="none" strike="noStrike">
                <a:solidFill>
                  <a:srgbClr val="201A2B"/>
                </a:solidFill>
                <a:latin typeface="Calibri"/>
              </a:rPr>
              <a:t>Erro medido após calibração (Zheng et al., 2024)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RMSE mínimo (cm)</c:v>
                </c:pt>
              </c:strCache>
            </c:strRef>
          </c:tx>
          <c:spPr>
            <a:solidFill>
              <a:srgbClr val="4B1F8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1A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Trigo (dossel denso)</c:v>
                  </c:pt>
                  <c:pt idx="1">
                    <c:v>Milho (dossel esparso)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3.7</c:v>
                </c:pt>
                <c:pt idx="1">
                  <c:v>8.1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RMSE máximo (cm)</c:v>
                </c:pt>
              </c:strCache>
            </c:strRef>
          </c:tx>
          <c:spPr>
            <a:solidFill>
              <a:srgbClr val="D92D20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201A2B"/>
                    </a:solidFill>
                    <a:latin typeface="Calibri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Sheet1!$A$2:$A$3</c:f>
              <c:multiLvlStrCache>
                <c:ptCount val="2"/>
                <c:lvl>
                  <c:pt idx="0">
                    <c:v>Trigo (dossel denso)</c:v>
                  </c:pt>
                  <c:pt idx="1">
                    <c:v>Milho (dossel esparso)</c:v>
                  </c:pt>
                </c:lvl>
              </c:multiLvlStrCache>
            </c:multiLvlStrRef>
          </c:cat>
          <c:val>
            <c:numRef>
              <c:f>Sheet1!$C$2:$C$3</c:f>
              <c:numCache>
                <c:formatCode>General</c:formatCode>
                <c:ptCount val="2"/>
                <c:pt idx="0">
                  <c:v>4.7</c:v>
                </c:pt>
                <c:pt idx="1">
                  <c:v>9.4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201A2B"/>
                  </a:solidFill>
                  <a:latin typeface="Calibri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675E78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E3DDEE"/>
              </a:solidFill>
              <a:prstDash val="solid"/>
              <a:round/>
            </a:ln>
          </c:spPr>
        </c:majorGridlines>
        <c:title>
          <c:tx>
            <c:rich>
              <a:bodyPr/>
              <a:lstStyle/>
              <a:p>
                <a:pPr>
                  <a:defRPr sz="1000" b="0" i="0" u="none" strike="noStrike">
                    <a:solidFill>
                      <a:srgbClr val="000000"/>
                    </a:solidFill>
                    <a:latin typeface="Arial"/>
                  </a:defRPr>
                </a:pPr>
                <a:r>
                  <a:rPr sz="1000" b="0" i="0" u="none" strike="noStrike">
                    <a:solidFill>
                      <a:srgbClr val="000000"/>
                    </a:solidFill>
                    <a:latin typeface="Arial"/>
                  </a:rPr>
                  <a:t>cm</a:t>
                </a:r>
              </a:p>
            </c:rich>
          </c:tx>
          <c:layout/>
          <c:overlay val="0"/>
        </c:title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000" b="0" i="0" u="none" strike="noStrike">
                <a:solidFill>
                  <a:srgbClr val="675E78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1000">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0:00-0:30 — Abrir dizendo o problema, nao o tema: 'nosso projeto promete dizer que ha 38 cm de mato, nao que ha mato. Esta aula e sobre como se mede esse numero e por que quase todo sensor erra.'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0:30-1:30 — Cada um diz o nome e a frente em que atuou. Manter curto: uma frase por pessoa. O enunciado exige que todos falem e informem a participacao no projeto.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1:30-3:00 — Este e o gancho da aula. Contar o caso real. Enfatizar: o sistema nao 'quebrou', ele respondeu um numero bonito e errado. Perguntar a turma: como voces detectariam isso? Ninguem detecta olhando o resultado — so comparando com uma segunda fonte.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3:00-4:00 — Ponto conceitual mais importante da aula. Escrever a formula no quadro se ajudar. A consequencia (1) e contraintuitiva e vale destacar: medir o solo a cada leitura parece mais seguro, mas degrada. Dai vem a recomendacao de calibrar uma vez.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4:00-5:15 — Fazer a conta no quadro para um caso: tan(7,5 graus)=0,132, logo 2 x 1 m x 0,132 = 26 cm. Perguntar a turma o que acontece com uma moita de 20 cm dentro de um circulo de 26 cm: ela vira media com o chao. Fonte dos angulos: datasheets ST, Benewake e HC-SR04.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5:15-6:45 — Aqui esta o conteudo tecnico mais forte. Fonte revisada por pares: Zheng et al. 2024, Frontiers in Plant Science, sensor industrial ToughSonic, JA CALIBRADO. Se ate um sensor industrial calibrado erra 8-9 cm em dossel esparso, um HC-SR04 de 20 reais nao vai fazer melhor. Conclusao: ultrassom nao serve para o nosso alvo.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6:45-7:45 — Esta e a ponte entre o nosso projeto e a proposta. Deixar claro que trocar de algoritmo NAO resolve; e limitacao de informacao, nao de processamento. Se perguntarem: sim, existe profundidade monocular (Depth Anything V2, Metric3D), mas custa modelo grande e GPU.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7:45-8:45 — Recomendacao objetiva e justificada, que e o que o criterio 'Aplicacao ao projeto' cobra. Amarrar com o slide anterior: o LiDAR entra porque resolve o problema de profundidade que documentamos, nao porque e a tecnologia mais nova.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8:45-9:30 — Explicar por que mediana e nao media (pergunta provavel do professor). Destacar a etapa 4: e a licao que veio dos nossos dois erros de campo, e ja esta implementada no pipeline.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9:30-10:00 — Fechar com as decisoes, nao com resumo. A ultima linha e deliberada: admitir o que nao foi testado da credibilidade e antecipa a pergunta obvia do professor.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Slide de apoio para as perguntas. Nao apresentar linha a linha.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E0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13716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spc="3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S2-CP01 · PROJETO MOTIVA · TEMA 2</a:t>
            </a:r>
            <a:endParaRPr lang="en-US" sz="14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828800"/>
            <a:ext cx="108813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Sensoriamento da vegetação</a:t>
            </a:r>
            <a:endParaRPr lang="en-US" sz="4600" dirty="0"/>
          </a:p>
          <a:p>
            <a:pPr indent="0" marL="0">
              <a:lnSpc>
                <a:spcPts val="52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 qualidade da medição</a:t>
            </a:r>
            <a:endParaRPr lang="en-US" sz="46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3749040"/>
            <a:ext cx="9601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medir altura de mato em centímetros é mais difícil — e mais decisivo — do que parece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4572000"/>
            <a:ext cx="1280160" cy="45720"/>
          </a:xfrm>
          <a:prstGeom prst="rect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489204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Turma [TURMA]  ·  FIAP  ·  Sprint 2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GRUPO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Quem somos e o que cada um fez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828800"/>
            <a:ext cx="10881360" cy="713232"/>
          </a:xfrm>
          <a:prstGeom prst="roundRect">
            <a:avLst>
              <a:gd name="adj" fmla="val 11538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841248" y="1984248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841248" y="1984248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417320" y="1938528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1]   ·   RM [RM]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417320" y="2212848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— painel web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" y="2670048"/>
            <a:ext cx="10881360" cy="713232"/>
          </a:xfrm>
          <a:prstGeom prst="roundRect">
            <a:avLst>
              <a:gd name="adj" fmla="val 11538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841248" y="2825496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841248" y="2825496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417320" y="2779776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2]   ·   RM [RM]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1417320" y="3054096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1 — app mobile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640080" y="3511296"/>
            <a:ext cx="10881360" cy="713232"/>
          </a:xfrm>
          <a:prstGeom prst="roundRect">
            <a:avLst>
              <a:gd name="adj" fmla="val 11538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41248" y="3666744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41248" y="3666744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1417320" y="3621024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3]   ·   RM [RM]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1417320" y="3895344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2 — visão computacional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4352544"/>
            <a:ext cx="10881360" cy="713232"/>
          </a:xfrm>
          <a:prstGeom prst="roundRect">
            <a:avLst>
              <a:gd name="adj" fmla="val 11538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841248" y="4507992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841248" y="4507992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1417320" y="4462272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4]   ·   RM [RM]</a:t>
            </a:r>
            <a:endParaRPr lang="en-US" sz="1500" dirty="0"/>
          </a:p>
        </p:txBody>
      </p:sp>
      <p:sp>
        <p:nvSpPr>
          <p:cNvPr id="23" name="Text 21"/>
          <p:cNvSpPr txBox="1"/>
          <p:nvPr/>
        </p:nvSpPr>
        <p:spPr>
          <a:xfrm>
            <a:off x="1417320" y="4736592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— banco e pipeline</a:t>
            </a:r>
            <a:endParaRPr lang="en-US" sz="1250" dirty="0"/>
          </a:p>
        </p:txBody>
      </p:sp>
      <p:sp>
        <p:nvSpPr>
          <p:cNvPr id="24" name="Shape 22"/>
          <p:cNvSpPr/>
          <p:nvPr/>
        </p:nvSpPr>
        <p:spPr>
          <a:xfrm>
            <a:off x="640080" y="5193792"/>
            <a:ext cx="10881360" cy="713232"/>
          </a:xfrm>
          <a:prstGeom prst="roundRect">
            <a:avLst>
              <a:gd name="adj" fmla="val 11538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41248" y="5349240"/>
            <a:ext cx="402336" cy="402336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41248" y="5349240"/>
            <a:ext cx="402336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27" name="Text 25"/>
          <p:cNvSpPr txBox="1"/>
          <p:nvPr/>
        </p:nvSpPr>
        <p:spPr>
          <a:xfrm>
            <a:off x="1417320" y="5303520"/>
            <a:ext cx="51206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[Integrante 5]   ·   RM [RM]</a:t>
            </a:r>
            <a:endParaRPr lang="en-US" sz="1500" dirty="0"/>
          </a:p>
        </p:txBody>
      </p:sp>
      <p:sp>
        <p:nvSpPr>
          <p:cNvPr id="28" name="Text 26"/>
          <p:cNvSpPr txBox="1"/>
          <p:nvPr/>
        </p:nvSpPr>
        <p:spPr>
          <a:xfrm>
            <a:off x="1417320" y="5577840"/>
            <a:ext cx="51206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Bloco 3 — integração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ESTE TEMA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problema começa com um número plausível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MEDIÇÃO REAL DO GRUPO</a:t>
            </a:r>
            <a:endParaRPr lang="en-US" sz="11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12848"/>
            <a:ext cx="4572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5400" b="1" dirty="0">
                <a:solidFill>
                  <a:srgbClr val="D9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38,5 cm</a:t>
            </a:r>
            <a:endParaRPr lang="en-US" sz="5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017520"/>
            <a:ext cx="46634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reportados onde havia ~10 cm.</a:t>
            </a: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operador informou 50 cm de trena; a foto mostrava 13,5 cm.</a:t>
            </a:r>
            <a:endParaRPr lang="en-US" sz="1350" dirty="0"/>
          </a:p>
        </p:txBody>
      </p:sp>
      <p:sp>
        <p:nvSpPr>
          <p:cNvPr id="8" name="Shape 6"/>
          <p:cNvSpPr/>
          <p:nvPr/>
        </p:nvSpPr>
        <p:spPr>
          <a:xfrm>
            <a:off x="6263640" y="1737360"/>
            <a:ext cx="5257800" cy="2286000"/>
          </a:xfrm>
          <a:prstGeom prst="roundRect">
            <a:avLst>
              <a:gd name="adj" fmla="val 3600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920240"/>
            <a:ext cx="4572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ISSO ENSINA</a:t>
            </a:r>
            <a:endParaRPr lang="en-US" sz="11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40280"/>
            <a:ext cx="466344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38,5 cm é uma altura perfeitamente crível para mato de beira de estrada.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Nada na foto, na máscara ou no JSON denunciava o erro.</a:t>
            </a:r>
            <a:endParaRPr lang="en-US" sz="1400" dirty="0"/>
          </a:p>
          <a:p>
            <a:pPr marL="342900" indent="-342900">
              <a:spcAft>
                <a:spcPts val="8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Erro de escala multiplica tudo por uma constante — e preserva a aparência de normalidade.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40080" y="429768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9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Erro de ruído se vê. Erro de escala, não. É por isso que a escolha do sensor importa.</a:t>
            </a:r>
            <a:endParaRPr lang="en-US" sz="1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FUNDAMENTAÇÃO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Nenhum sensor mede altura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002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Todos medem distância. Altura é uma diferença: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640080" y="2011680"/>
            <a:ext cx="10881360" cy="914400"/>
          </a:xfrm>
          <a:prstGeom prst="roundRect">
            <a:avLst>
              <a:gd name="adj" fmla="val 9000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2011680"/>
            <a:ext cx="1088136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h  =  d(solo)  −  d(dossel)</a:t>
            </a:r>
            <a:endParaRPr lang="en-US" sz="3200" dirty="0"/>
          </a:p>
        </p:txBody>
      </p:sp>
      <p:sp>
        <p:nvSpPr>
          <p:cNvPr id="7" name="Shape 5"/>
          <p:cNvSpPr/>
          <p:nvPr/>
        </p:nvSpPr>
        <p:spPr>
          <a:xfrm>
            <a:off x="640080" y="32004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8" name="Shape 6"/>
          <p:cNvSpPr/>
          <p:nvPr/>
        </p:nvSpPr>
        <p:spPr>
          <a:xfrm>
            <a:off x="914400" y="3429000"/>
            <a:ext cx="347472" cy="347472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91440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1389888" y="34107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erro se compõe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1389888" y="376732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Duas medidas com desvio σ dão σ√2 na altura — 41% pior.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solo toda vez PIORA o resultado.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6263640" y="3200400"/>
            <a:ext cx="5257800" cy="1600200"/>
          </a:xfrm>
          <a:prstGeom prst="roundRect">
            <a:avLst>
              <a:gd name="adj" fmla="val 5143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6537960" y="3429000"/>
            <a:ext cx="347472" cy="347472"/>
          </a:xfrm>
          <a:prstGeom prst="ellipse">
            <a:avLst/>
          </a:prstGeom>
          <a:solidFill>
            <a:srgbClr val="4B1F80"/>
          </a:solidFill>
          <a:ln w="12700">
            <a:solidFill>
              <a:srgbClr val="4B1F8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6537960" y="342900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5" name="Text 13"/>
          <p:cNvSpPr txBox="1"/>
          <p:nvPr/>
        </p:nvSpPr>
        <p:spPr>
          <a:xfrm>
            <a:off x="7013448" y="3410712"/>
            <a:ext cx="42976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“Topo do dossel” é ambíguo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7013448" y="3767328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Vegetação é meio poroso, não superfície. O feixe reflete na folha,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atravessa o vão ou chega ao solo.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CÁLCULO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especificação que decide não é o alcance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572768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É a abertura do feixe: ela define a área que o sensor integra numa leitura.</a:t>
            </a:r>
            <a:endParaRPr lang="en-US" sz="1550" dirty="0"/>
          </a:p>
        </p:txBody>
      </p:sp>
      <p:sp>
        <p:nvSpPr>
          <p:cNvPr id="5" name="Shape 3"/>
          <p:cNvSpPr/>
          <p:nvPr/>
        </p:nvSpPr>
        <p:spPr>
          <a:xfrm>
            <a:off x="640080" y="1965960"/>
            <a:ext cx="3200400" cy="658368"/>
          </a:xfrm>
          <a:prstGeom prst="roundRect">
            <a:avLst>
              <a:gd name="adj" fmla="val 12500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40080" y="1965960"/>
            <a:ext cx="32004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2B70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 = 2 · d · tan(θ/2)</a:t>
            </a:r>
            <a:endParaRPr lang="en-US" sz="19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2834640"/>
          <a:ext cx="1088136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1005840"/>
                <a:gridCol w="1280160"/>
                <a:gridCol w="5852160"/>
              </a:tblGrid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Sensor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θ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 a 1 m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5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Consequência</a:t>
                      </a:r>
                      <a:endParaRPr lang="en-US" sz="12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0854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HC-SR04 (ultrassom)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&lt; 15°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26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Média de uma área grande — não resolve moita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VL53L1X (ToF)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27°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48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Área ainda maior; mitigável por ROI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6F4FA"/>
                    </a:solidFill>
                  </a:tcPr>
                </a:tc>
              </a:tr>
              <a:tr h="42062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TF-Luna (LiDAR)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2,3°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4 cm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50" dirty="0">
                          <a:solidFill>
                            <a:srgbClr val="201A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Resolve o alvo — mas amostra um só ponto</a:t>
                      </a:r>
                      <a:endParaRPr lang="en-US" sz="135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 anchor="ctr">
                    <a:lnL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E3DDE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 5"/>
          <p:cNvSpPr txBox="1"/>
          <p:nvPr/>
        </p:nvSpPr>
        <p:spPr>
          <a:xfrm>
            <a:off x="640080" y="4892040"/>
            <a:ext cx="10881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Compromisso real: feixe largo perde o alvo na média; feixe estreito cai no vão entre folhas. A saída é amostrar N vezes e usar a MEDIANA.</a:t>
            </a:r>
            <a:endParaRPr lang="en-US" sz="16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VERIFICAÇÃO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Ultrassom aguenta a nossa faixa de decisão?</a:t>
            </a:r>
            <a:endParaRPr lang="en-US" sz="3400" dirty="0"/>
          </a:p>
        </p:txBody>
      </p:sp>
      <p:graphicFrame>
        <p:nvGraphicFramePr>
          <p:cNvPr id="4" name="Chart 0" descr=""/>
          <p:cNvGraphicFramePr/>
          <p:nvPr/>
        </p:nvGraphicFramePr>
        <p:xfrm>
          <a:off x="640080" y="1691640"/>
          <a:ext cx="6309360" cy="338328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5" name="Shape 2"/>
          <p:cNvSpPr/>
          <p:nvPr/>
        </p:nvSpPr>
        <p:spPr>
          <a:xfrm>
            <a:off x="7223760" y="1691640"/>
            <a:ext cx="4297680" cy="1508760"/>
          </a:xfrm>
          <a:prstGeom prst="roundRect">
            <a:avLst>
              <a:gd name="adj" fmla="val 545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6" name="Text 3"/>
          <p:cNvSpPr txBox="1"/>
          <p:nvPr/>
        </p:nvSpPr>
        <p:spPr>
          <a:xfrm>
            <a:off x="7498080" y="18470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50" kern="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NOSSO REQUISITO</a:t>
            </a:r>
            <a:endParaRPr lang="en-US" sz="1100" dirty="0"/>
          </a:p>
        </p:txBody>
      </p:sp>
      <p:sp>
        <p:nvSpPr>
          <p:cNvPr id="7" name="Text 4"/>
          <p:cNvSpPr txBox="1"/>
          <p:nvPr/>
        </p:nvSpPr>
        <p:spPr>
          <a:xfrm>
            <a:off x="7498080" y="2103120"/>
            <a:ext cx="37490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σ ≤ 5 cm</a:t>
            </a:r>
            <a:endParaRPr lang="en-US" sz="3200" dirty="0"/>
          </a:p>
        </p:txBody>
      </p:sp>
      <p:sp>
        <p:nvSpPr>
          <p:cNvPr id="8" name="Text 5"/>
          <p:cNvSpPr txBox="1"/>
          <p:nvPr/>
        </p:nvSpPr>
        <p:spPr>
          <a:xfrm>
            <a:off x="7498080" y="2670048"/>
            <a:ext cx="3749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Bandas de risco têm 20 cm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(atenção 25 cm · crítico 45 cm)</a:t>
            </a:r>
            <a:endParaRPr lang="en-US" sz="1250" dirty="0"/>
          </a:p>
        </p:txBody>
      </p:sp>
      <p:sp>
        <p:nvSpPr>
          <p:cNvPr id="9" name="Shape 6"/>
          <p:cNvSpPr/>
          <p:nvPr/>
        </p:nvSpPr>
        <p:spPr>
          <a:xfrm>
            <a:off x="7223760" y="3383280"/>
            <a:ext cx="4297680" cy="1691640"/>
          </a:xfrm>
          <a:prstGeom prst="roundRect">
            <a:avLst>
              <a:gd name="adj" fmla="val 4865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498080" y="3566160"/>
            <a:ext cx="37490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Grama de 5–6 cm</a:t>
            </a:r>
            <a:endParaRPr lang="en-US" sz="1500" dirty="0"/>
          </a:p>
        </p:txBody>
      </p:sp>
      <p:sp>
        <p:nvSpPr>
          <p:cNvPr id="11" name="Text 8"/>
          <p:cNvSpPr txBox="1"/>
          <p:nvPr/>
        </p:nvSpPr>
        <p:spPr>
          <a:xfrm>
            <a:off x="7498080" y="3858768"/>
            <a:ext cx="374904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 RMSE de 8–9 cm, o erro é MAIOR que a grandeza medida.</a:t>
            </a:r>
            <a:endParaRPr lang="en-US" sz="1250" dirty="0"/>
          </a:p>
          <a:p>
            <a:pPr indent="0" marL="0">
              <a:buNone/>
            </a:pP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Ultrassom separa “tranquilo” de “crítico” em mato alto — não acompanha crescimento de grama baixa.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CASO MOTIVA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O segundo erro: 41,6 cm numa grama de 5–6 cm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69164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960120" y="1874520"/>
            <a:ext cx="45720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aconteceu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960120" y="2240280"/>
            <a:ext cx="466344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Depois de corrigir a escala, o erro persistiu.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máscara de vegetação capturava a faixa de grama inteira — do pé da câmera ao horizonte.</a:t>
            </a:r>
            <a:endParaRPr lang="en-US" sz="1400" dirty="0"/>
          </a:p>
          <a:p>
            <a:pPr marL="342900" indent="-342900">
              <a:spcAft>
                <a:spcPts val="900"/>
              </a:spcAft>
              <a:buSzPct val="100000"/>
              <a:buChar char="•"/>
            </a:pPr>
            <a:r>
              <a:rPr lang="en-US" sz="1400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extensão vertical dessa região não é a altura de planta nenhuma.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960120" y="3931920"/>
            <a:ext cx="4663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i="1" dirty="0">
                <a:solidFill>
                  <a:srgbClr val="D92D2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Grama distante aparece mais alta no quadro sem ser mais alta.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6263640" y="1691640"/>
            <a:ext cx="5257800" cy="3108960"/>
          </a:xfrm>
          <a:prstGeom prst="roundRect">
            <a:avLst>
              <a:gd name="adj" fmla="val 2647"/>
            </a:avLst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583680" y="1874520"/>
            <a:ext cx="4663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Por que isso importa para o tema</a:t>
            </a:r>
            <a:endParaRPr 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6583680" y="2286000"/>
            <a:ext cx="4663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Não é problema de segmentação.</a:t>
            </a:r>
            <a:endParaRPr lang="en-US" sz="2200" dirty="0"/>
          </a:p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É falta de PROFUNDIDADE.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6583680" y="3063240"/>
            <a:ext cx="466344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Uma imagem RGB não sabe a distância de cada pixel. Segmentador melhor segmentaria a faixa perfeitamente — e ela continuaria sendo uma coisa só.</a:t>
            </a:r>
            <a:endParaRPr lang="en-US" sz="1350" dirty="0"/>
          </a:p>
          <a:p>
            <a:pPr indent="0" marL="0">
              <a:buNone/>
            </a:pPr>
            <a:endParaRPr lang="en-US" sz="1350" dirty="0"/>
          </a:p>
          <a:p>
            <a:pPr indent="0" marL="0">
              <a:buNone/>
            </a:pPr>
            <a:r>
              <a:rPr lang="en-US" sz="135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Um sensor de distância fornece exatamente o dado que falta.</a:t>
            </a:r>
            <a:endParaRPr lang="en-US" sz="13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RECOMENDAÇÃO DO GRUPO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Proposta: LiDAR de ponto único + câmera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14400" y="1965960"/>
            <a:ext cx="384048" cy="384048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1440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91440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 pleno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91440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70 klux (TFmini-S) e operação acima de 100 klux (TF-Luna). Única categoria que sobrevive a céu aberto.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434340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617720" y="1965960"/>
            <a:ext cx="384048" cy="384048"/>
          </a:xfrm>
          <a:prstGeom prst="ellipse">
            <a:avLst/>
          </a:prstGeom>
          <a:solidFill>
            <a:srgbClr val="22C55E"/>
          </a:solidFill>
          <a:ln w="12700">
            <a:solidFill>
              <a:srgbClr val="22C55E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461772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461772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Resolução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461772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Footprint de 4 cm a 1 m: resolve a moita em vez de mediar a faixa.</a:t>
            </a:r>
            <a:endParaRPr lang="en-US" sz="1250" dirty="0"/>
          </a:p>
        </p:txBody>
      </p:sp>
      <p:sp>
        <p:nvSpPr>
          <p:cNvPr id="14" name="Shape 12"/>
          <p:cNvSpPr/>
          <p:nvPr/>
        </p:nvSpPr>
        <p:spPr>
          <a:xfrm>
            <a:off x="8046720" y="1737360"/>
            <a:ext cx="3474720" cy="2011680"/>
          </a:xfrm>
          <a:prstGeom prst="roundRect">
            <a:avLst>
              <a:gd name="adj" fmla="val 4091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8321040" y="1965960"/>
            <a:ext cx="384048" cy="384048"/>
          </a:xfrm>
          <a:prstGeom prst="ellipse">
            <a:avLst/>
          </a:prstGeom>
          <a:solidFill>
            <a:srgbClr val="4B1F80"/>
          </a:solidFill>
          <a:ln w="12700">
            <a:solidFill>
              <a:srgbClr val="4B1F8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321040" y="1965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8321040" y="2468880"/>
            <a:ext cx="29260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Profundidade</a:t>
            </a:r>
            <a:endParaRPr lang="en-US" sz="1600" dirty="0"/>
          </a:p>
        </p:txBody>
      </p:sp>
      <p:sp>
        <p:nvSpPr>
          <p:cNvPr id="18" name="Text 16"/>
          <p:cNvSpPr txBox="1"/>
          <p:nvPr/>
        </p:nvSpPr>
        <p:spPr>
          <a:xfrm>
            <a:off x="8321040" y="2788920"/>
            <a:ext cx="29260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Fornece a distância que falta à imagem — dispensa a trena no quadro.</a:t>
            </a:r>
            <a:endParaRPr lang="en-US" sz="1250" dirty="0"/>
          </a:p>
        </p:txBody>
      </p:sp>
      <p:sp>
        <p:nvSpPr>
          <p:cNvPr id="19" name="Shape 17"/>
          <p:cNvSpPr/>
          <p:nvPr/>
        </p:nvSpPr>
        <p:spPr>
          <a:xfrm>
            <a:off x="640080" y="3977640"/>
            <a:ext cx="10881360" cy="1051560"/>
          </a:xfrm>
          <a:prstGeom prst="roundRect">
            <a:avLst>
              <a:gd name="adj" fmla="val 7826"/>
            </a:avLst>
          </a:prstGeom>
          <a:solidFill>
            <a:srgbClr val="FFF8E1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960120" y="4114800"/>
            <a:ext cx="102412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a geometria UMA vez, não a cada leitura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960120" y="4407408"/>
            <a:ext cx="102412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7A5C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Medir o solo toda vez compõe erro (σ√2). Com montagem rígida, d(solo) é constante — o projeto já faz isso em vision/calibracao.json, que guarda a escala e a geometria e avisa após 7 dias.</a:t>
            </a:r>
            <a:endParaRPr lang="en-US" sz="12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FLUXO PROPOSTO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Como a leitura vira decisão</a:t>
            </a:r>
            <a:endParaRPr lang="en-US" sz="3400" dirty="0"/>
          </a:p>
        </p:txBody>
      </p:sp>
      <p:sp>
        <p:nvSpPr>
          <p:cNvPr id="4" name="Shape 2"/>
          <p:cNvSpPr/>
          <p:nvPr/>
        </p:nvSpPr>
        <p:spPr>
          <a:xfrm>
            <a:off x="640080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1280160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128016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 txBox="1"/>
          <p:nvPr/>
        </p:nvSpPr>
        <p:spPr>
          <a:xfrm>
            <a:off x="640080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Amostrar</a:t>
            </a:r>
            <a:endParaRPr lang="en-US" sz="140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leituras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~100 Hz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2478024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3118104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3118104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2478024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Filtrar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2569464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 fora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janela válida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4315968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956048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4956048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4315968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Mediana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4407408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Rejeita o vão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entre folhas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6153912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EF3F2"/>
          </a:solidFill>
          <a:ln w="12700">
            <a:solidFill>
              <a:srgbClr val="FECDCA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6793992" y="2148840"/>
            <a:ext cx="384048" cy="384048"/>
          </a:xfrm>
          <a:prstGeom prst="ellipse">
            <a:avLst/>
          </a:prstGeom>
          <a:solidFill>
            <a:srgbClr val="D92D20"/>
          </a:solidFill>
          <a:ln w="12700">
            <a:solidFill>
              <a:srgbClr val="D92D20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6793992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 txBox="1"/>
          <p:nvPr/>
        </p:nvSpPr>
        <p:spPr>
          <a:xfrm>
            <a:off x="6153912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Dispersão</a:t>
            </a:r>
            <a:endParaRPr lang="en-US" sz="1400" dirty="0"/>
          </a:p>
        </p:txBody>
      </p:sp>
      <p:sp>
        <p:nvSpPr>
          <p:cNvPr id="23" name="Text 21"/>
          <p:cNvSpPr txBox="1"/>
          <p:nvPr/>
        </p:nvSpPr>
        <p:spPr>
          <a:xfrm>
            <a:off x="6245352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Alta? RECUSA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91201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 sinaliza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7991856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8631936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8631936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 txBox="1"/>
          <p:nvPr/>
        </p:nvSpPr>
        <p:spPr>
          <a:xfrm>
            <a:off x="7991856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Converter</a:t>
            </a:r>
            <a:endParaRPr lang="en-US" sz="1400" dirty="0"/>
          </a:p>
        </p:txBody>
      </p:sp>
      <p:sp>
        <p:nvSpPr>
          <p:cNvPr id="28" name="Text 26"/>
          <p:cNvSpPr txBox="1"/>
          <p:nvPr/>
        </p:nvSpPr>
        <p:spPr>
          <a:xfrm>
            <a:off x="8083296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 = d(solo)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− mediana</a:t>
            </a:r>
            <a:endParaRPr lang="en-US" sz="1150" dirty="0"/>
          </a:p>
        </p:txBody>
      </p:sp>
      <p:sp>
        <p:nvSpPr>
          <p:cNvPr id="29" name="Shape 27"/>
          <p:cNvSpPr/>
          <p:nvPr/>
        </p:nvSpPr>
        <p:spPr>
          <a:xfrm>
            <a:off x="9829800" y="1965960"/>
            <a:ext cx="1664208" cy="1920240"/>
          </a:xfrm>
          <a:prstGeom prst="roundRect">
            <a:avLst>
              <a:gd name="adj" fmla="val 4945"/>
            </a:avLst>
          </a:prstGeom>
          <a:solidFill>
            <a:srgbClr val="F6F4FA"/>
          </a:solidFill>
          <a:ln w="12700">
            <a:solidFill>
              <a:srgbClr val="E3DDEE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10469880" y="2148840"/>
            <a:ext cx="384048" cy="384048"/>
          </a:xfrm>
          <a:prstGeom prst="ellipse">
            <a:avLst/>
          </a:prstGeom>
          <a:solidFill>
            <a:srgbClr val="2E0854"/>
          </a:solidFill>
          <a:ln w="12700">
            <a:solidFill>
              <a:srgbClr val="2E0854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10469880" y="2148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400" dirty="0"/>
          </a:p>
        </p:txBody>
      </p:sp>
      <p:sp>
        <p:nvSpPr>
          <p:cNvPr id="32" name="Text 30"/>
          <p:cNvSpPr txBox="1"/>
          <p:nvPr/>
        </p:nvSpPr>
        <p:spPr>
          <a:xfrm>
            <a:off x="9829800" y="2651760"/>
            <a:ext cx="166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201A2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Decidir</a:t>
            </a:r>
            <a:endParaRPr lang="en-US" sz="1400" dirty="0"/>
          </a:p>
        </p:txBody>
      </p:sp>
      <p:sp>
        <p:nvSpPr>
          <p:cNvPr id="33" name="Text 31"/>
          <p:cNvSpPr txBox="1"/>
          <p:nvPr/>
        </p:nvSpPr>
        <p:spPr>
          <a:xfrm>
            <a:off x="9921240" y="2944368"/>
            <a:ext cx="1481328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Cruzou limiar?</a:t>
            </a:r>
            <a:endParaRPr lang="en-US" sz="115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Transmite</a:t>
            </a:r>
            <a:endParaRPr lang="en-US" sz="1150" dirty="0"/>
          </a:p>
        </p:txBody>
      </p:sp>
      <p:sp>
        <p:nvSpPr>
          <p:cNvPr id="34" name="Text 32"/>
          <p:cNvSpPr txBox="1"/>
          <p:nvPr/>
        </p:nvSpPr>
        <p:spPr>
          <a:xfrm>
            <a:off x="640080" y="416052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i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Mediana, não média: o vão entre folhas é outlier assimétrico — média o absorve, mediana o rejeita.</a:t>
            </a:r>
            <a:endParaRPr lang="en-US" sz="1600" dirty="0"/>
          </a:p>
        </p:txBody>
      </p:sp>
      <p:sp>
        <p:nvSpPr>
          <p:cNvPr id="35" name="Text 33"/>
          <p:cNvSpPr txBox="1"/>
          <p:nvPr/>
        </p:nvSpPr>
        <p:spPr>
          <a:xfrm>
            <a:off x="640080" y="457200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Etapa 4 é a regra que vale mais que todas: sem confiança, não se reporta número. Recusar medir é melhor que medir errado em silêncio.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E085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685800"/>
            <a:ext cx="108813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spc="25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 QUE FICA</a:t>
            </a:r>
            <a:endParaRPr lang="en-US" sz="13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1005840"/>
            <a:ext cx="10881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Decisões recomendadas</a:t>
            </a:r>
            <a:endParaRPr lang="en-US" sz="3600" dirty="0"/>
          </a:p>
        </p:txBody>
      </p:sp>
      <p:sp>
        <p:nvSpPr>
          <p:cNvPr id="4" name="Shape 2"/>
          <p:cNvSpPr/>
          <p:nvPr/>
        </p:nvSpPr>
        <p:spPr>
          <a:xfrm>
            <a:off x="640080" y="2011680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1097280" y="1965960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Adotar LiDAR de ponto único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5669280" y="1984248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Única categoria com tolerância a sol pleno e footprint compatível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640080" y="2615184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1097280" y="2569464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Descartar ultrassom como primário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5669280" y="2587752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RMSE de 8–9 cm excede a resolução que a nossa faixa exige</a:t>
            </a:r>
            <a:endParaRPr lang="en-US" sz="1300" dirty="0"/>
          </a:p>
        </p:txBody>
      </p:sp>
      <p:sp>
        <p:nvSpPr>
          <p:cNvPr id="10" name="Shape 8"/>
          <p:cNvSpPr/>
          <p:nvPr/>
        </p:nvSpPr>
        <p:spPr>
          <a:xfrm>
            <a:off x="640080" y="3218688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1" name="Text 9"/>
          <p:cNvSpPr txBox="1"/>
          <p:nvPr/>
        </p:nvSpPr>
        <p:spPr>
          <a:xfrm>
            <a:off x="1097280" y="3172968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Fundir o sensor com a câmera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5669280" y="3191256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Ele entrega a profundidade que a imagem RGB não tem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640080" y="3822192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1097280" y="3776472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Calibrar a geometria uma vez</a:t>
            </a:r>
            <a:endParaRPr lang="en-US" sz="1500" dirty="0"/>
          </a:p>
        </p:txBody>
      </p:sp>
      <p:sp>
        <p:nvSpPr>
          <p:cNvPr id="15" name="Text 13"/>
          <p:cNvSpPr txBox="1"/>
          <p:nvPr/>
        </p:nvSpPr>
        <p:spPr>
          <a:xfrm>
            <a:off x="5669280" y="3794760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Evita compor erro e deixa a medição auditável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40080" y="4425696"/>
            <a:ext cx="274320" cy="274320"/>
          </a:xfrm>
          <a:prstGeom prst="ellipse">
            <a:avLst/>
          </a:prstGeom>
          <a:solidFill>
            <a:srgbClr val="F2B705"/>
          </a:solidFill>
          <a:ln w="12700">
            <a:solidFill>
              <a:srgbClr val="F2B705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1097280" y="4379976"/>
            <a:ext cx="4480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Recusar em vez de estimar</a:t>
            </a:r>
            <a:endParaRPr lang="en-US" sz="1500" dirty="0"/>
          </a:p>
        </p:txBody>
      </p:sp>
      <p:sp>
        <p:nvSpPr>
          <p:cNvPr id="18" name="Text 16"/>
          <p:cNvSpPr txBox="1"/>
          <p:nvPr/>
        </p:nvSpPr>
        <p:spPr>
          <a:xfrm>
            <a:off x="5669280" y="4398264"/>
            <a:ext cx="58521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D9C9F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Validado por dois erros de campo documentados</a:t>
            </a:r>
            <a:endParaRPr lang="en-US" sz="1300" dirty="0"/>
          </a:p>
        </p:txBody>
      </p:sp>
      <p:sp>
        <p:nvSpPr>
          <p:cNvPr id="19" name="Text 17"/>
          <p:cNvSpPr txBox="1"/>
          <p:nvPr/>
        </p:nvSpPr>
        <p:spPr>
          <a:xfrm>
            <a:off x="640080" y="5212080"/>
            <a:ext cx="108813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Limitação assumida: não ensaiamos LiDAR nem ultrassom. Bancada contra medição manual é o próximo passo.</a:t>
            </a:r>
            <a:endParaRPr lang="en-US" sz="13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640080" y="384048"/>
            <a:ext cx="108813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200" kern="0" dirty="0">
                <a:solidFill>
                  <a:srgbClr val="F2B70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FONTES</a:t>
            </a:r>
            <a:endParaRPr lang="en-US" sz="1200" dirty="0"/>
          </a:p>
        </p:txBody>
      </p:sp>
      <p:sp>
        <p:nvSpPr>
          <p:cNvPr id="3" name="Text 1"/>
          <p:cNvSpPr txBox="1"/>
          <p:nvPr/>
        </p:nvSpPr>
        <p:spPr>
          <a:xfrm>
            <a:off x="640080" y="658368"/>
            <a:ext cx="1088136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2E085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Referências</a:t>
            </a:r>
            <a:endParaRPr lang="en-US" sz="3400" dirty="0"/>
          </a:p>
        </p:txBody>
      </p:sp>
      <p:sp>
        <p:nvSpPr>
          <p:cNvPr id="4" name="Text 2"/>
          <p:cNvSpPr txBox="1"/>
          <p:nvPr/>
        </p:nvSpPr>
        <p:spPr>
          <a:xfrm>
            <a:off x="640080" y="169164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[2] STMicroelectronics</a:t>
            </a:r>
            <a:endParaRPr lang="en-US" sz="1350" dirty="0"/>
          </a:p>
        </p:txBody>
      </p:sp>
      <p:sp>
        <p:nvSpPr>
          <p:cNvPr id="5" name="Text 3"/>
          <p:cNvSpPr txBox="1"/>
          <p:nvPr/>
        </p:nvSpPr>
        <p:spPr>
          <a:xfrm>
            <a:off x="3566160" y="169164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VL53L1X Datasheet DS13088 — alcance, FoV 27°, modos de distância e luz ambiente</a:t>
            </a:r>
            <a:endParaRPr lang="en-US" sz="1250" dirty="0"/>
          </a:p>
        </p:txBody>
      </p:sp>
      <p:sp>
        <p:nvSpPr>
          <p:cNvPr id="6" name="Text 4"/>
          <p:cNvSpPr txBox="1"/>
          <p:nvPr/>
        </p:nvSpPr>
        <p:spPr>
          <a:xfrm>
            <a:off x="640080" y="2313432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[3] Handson Technology</a:t>
            </a:r>
            <a:endParaRPr lang="en-US" sz="1350" dirty="0"/>
          </a:p>
        </p:txBody>
      </p:sp>
      <p:sp>
        <p:nvSpPr>
          <p:cNvPr id="7" name="Text 5"/>
          <p:cNvSpPr txBox="1"/>
          <p:nvPr/>
        </p:nvSpPr>
        <p:spPr>
          <a:xfrm>
            <a:off x="3566160" y="2313432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HC-SR04 Ultrasonic Sensor Module — User Guide (2–400 cm, ângulo &lt; 15°)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2935224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[4] Sharp Corporation</a:t>
            </a:r>
            <a:endParaRPr lang="en-US" sz="1350" dirty="0"/>
          </a:p>
        </p:txBody>
      </p:sp>
      <p:sp>
        <p:nvSpPr>
          <p:cNvPr id="9" name="Text 7"/>
          <p:cNvSpPr txBox="1"/>
          <p:nvPr/>
        </p:nvSpPr>
        <p:spPr>
          <a:xfrm>
            <a:off x="3566160" y="2935224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GP2Y0A21YK0F Datasheet — 10–80 cm, saída não linear por triangulação</a:t>
            </a:r>
            <a:endParaRPr lang="en-US" sz="1250" dirty="0"/>
          </a:p>
        </p:txBody>
      </p:sp>
      <p:sp>
        <p:nvSpPr>
          <p:cNvPr id="10" name="Text 8"/>
          <p:cNvSpPr txBox="1"/>
          <p:nvPr/>
        </p:nvSpPr>
        <p:spPr>
          <a:xfrm>
            <a:off x="640080" y="3557016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[5] Zheng, H. et al. (2024)</a:t>
            </a:r>
            <a:endParaRPr lang="en-US" sz="1350" dirty="0"/>
          </a:p>
        </p:txBody>
      </p:sp>
      <p:sp>
        <p:nvSpPr>
          <p:cNvPr id="11" name="Text 9"/>
          <p:cNvSpPr txBox="1"/>
          <p:nvPr/>
        </p:nvSpPr>
        <p:spPr>
          <a:xfrm>
            <a:off x="3566160" y="3557016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Calibrating ultrasonic sensor measurements of crop canopy heights.</a:t>
            </a:r>
            <a:endParaRPr lang="en-US" sz="1250" dirty="0"/>
          </a:p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Frontiers in Plant Science, v. 15. DOI: 10.3389/fpls.2024.1354359</a:t>
            </a:r>
            <a:endParaRPr lang="en-US" sz="1250" dirty="0"/>
          </a:p>
        </p:txBody>
      </p:sp>
      <p:sp>
        <p:nvSpPr>
          <p:cNvPr id="12" name="Text 10"/>
          <p:cNvSpPr txBox="1"/>
          <p:nvPr/>
        </p:nvSpPr>
        <p:spPr>
          <a:xfrm>
            <a:off x="640080" y="4178808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[6] Benewake</a:t>
            </a:r>
            <a:endParaRPr lang="en-US" sz="1350" dirty="0"/>
          </a:p>
        </p:txBody>
      </p:sp>
      <p:sp>
        <p:nvSpPr>
          <p:cNvPr id="13" name="Text 11"/>
          <p:cNvSpPr txBox="1"/>
          <p:nvPr/>
        </p:nvSpPr>
        <p:spPr>
          <a:xfrm>
            <a:off x="3566160" y="4178808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TFmini-S Product Specification — 70 klux, ± 6 cm em 0,1–6 m</a:t>
            </a:r>
            <a:endParaRPr lang="en-US" sz="1250" dirty="0"/>
          </a:p>
        </p:txBody>
      </p:sp>
      <p:sp>
        <p:nvSpPr>
          <p:cNvPr id="14" name="Text 12"/>
          <p:cNvSpPr txBox="1"/>
          <p:nvPr/>
        </p:nvSpPr>
        <p:spPr>
          <a:xfrm>
            <a:off x="640080" y="4800600"/>
            <a:ext cx="283464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2E085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[7] Benewake</a:t>
            </a:r>
            <a:endParaRPr lang="en-US" sz="1350" dirty="0"/>
          </a:p>
        </p:txBody>
      </p:sp>
      <p:sp>
        <p:nvSpPr>
          <p:cNvPr id="15" name="Text 13"/>
          <p:cNvSpPr txBox="1"/>
          <p:nvPr/>
        </p:nvSpPr>
        <p:spPr>
          <a:xfrm>
            <a:off x="3566160" y="4800600"/>
            <a:ext cx="79552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TF-Luna Datasheet SJ-GU-TF-Luna-A01 — ângulo 2,3°, 0,2–8 m</a:t>
            </a:r>
            <a:endParaRPr lang="en-US" sz="1250" dirty="0"/>
          </a:p>
        </p:txBody>
      </p:sp>
      <p:sp>
        <p:nvSpPr>
          <p:cNvPr id="16" name="Text 14"/>
          <p:cNvSpPr txBox="1"/>
          <p:nvPr/>
        </p:nvSpPr>
        <p:spPr>
          <a:xfrm>
            <a:off x="640080" y="5486400"/>
            <a:ext cx="10881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i="1" dirty="0">
                <a:solidFill>
                  <a:srgbClr val="675E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Datasheets consultados nas páginas oficiais dos fabricantes. [5] é revisado por pares (PMC11188359). Tabelas de footprint e de adequação são cálculos do grupo a partir desses parâmetros.</a:t>
            </a:r>
            <a:endParaRPr lang="en-US" sz="11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11</Slides>
  <Notes>11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11</vt:i4>
      </vt:variant>
    </vt:vector>
  </HeadingPairs>
  <TitlesOfParts>
    <vt:vector size="14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S2-CP01 — Sensoriamento da vegetação e qualidade da medição</dc:title>
  <dc:subject>PptxGenJS Presentation</dc:subject>
  <dc:creator>Grupo Motiva-Field</dc:creator>
  <cp:lastModifiedBy>Grupo Motiva-Field</cp:lastModifiedBy>
  <cp:revision>1</cp:revision>
  <dcterms:created xsi:type="dcterms:W3CDTF">2026-09-01T22:23:45Z</dcterms:created>
  <dcterms:modified xsi:type="dcterms:W3CDTF">2026-09-01T22:23:45Z</dcterms:modified>
</cp:coreProperties>
</file>